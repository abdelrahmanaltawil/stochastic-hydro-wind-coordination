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Coupled Day-Ahead Problem — Water–Energy Nexus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</a:rPr>
              <a:t>One MILP: the pump schedule on the water side becomes a priced electrical load on the energy side.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903720" y="1371600"/>
            <a:ext cx="0" cy="4572000"/>
          </a:xfrm>
          <a:prstGeom prst="line">
            <a:avLst/>
          </a:prstGeom>
          <a:noFill/>
          <a:ln w="19050">
            <a:solidFill>
              <a:srgbClr val="E3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B6E4F"/>
                </a:solidFill>
              </a:rPr>
              <a:t>OBJECTIVE</a:t>
            </a:r>
            <a:endParaRPr lang="en-US" sz="1300" dirty="0"/>
          </a:p>
        </p:txBody>
      </p:sp>
      <p:pic>
        <p:nvPicPr>
          <p:cNvPr id="6" name="Image 0" descr="eq_ob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19072"/>
            <a:ext cx="6309360" cy="7461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54203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6DD0"/>
                </a:solidFill>
              </a:rPr>
              <a:t>term 1</a:t>
            </a:r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</a:rPr>
              <a:t> = grid energy cost incl. pumping     </a:t>
            </a:r>
            <a:pPr indent="0" marL="0">
              <a:buNone/>
            </a:pPr>
            <a:r>
              <a:rPr lang="en-US" sz="1250" b="1" dirty="0">
                <a:solidFill>
                  <a:srgbClr val="5B6B7A"/>
                </a:solidFill>
              </a:rPr>
              <a:t>term 2</a:t>
            </a:r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</a:rPr>
              <a:t> = water demand-slack penalty  (M ≫ 0)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305409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B6E4F"/>
                </a:solidFill>
              </a:rPr>
              <a:t>SUBJECT TO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419856"/>
            <a:ext cx="1691640" cy="475488"/>
          </a:xfrm>
          <a:prstGeom prst="roundRect">
            <a:avLst>
              <a:gd name="adj" fmla="val 15385"/>
            </a:avLst>
          </a:prstGeom>
          <a:solidFill>
            <a:srgbClr val="1C6DD0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41985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(W1)–(W16)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331720" y="3419856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2233"/>
                </a:solidFill>
              </a:rPr>
              <a:t>water hydraulics, tanks, pumps, valves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57200" y="4096512"/>
            <a:ext cx="1691640" cy="475488"/>
          </a:xfrm>
          <a:prstGeom prst="roundRect">
            <a:avLst>
              <a:gd name="adj" fmla="val 15385"/>
            </a:avLst>
          </a:prstGeom>
          <a:solidFill>
            <a:srgbClr val="C8901B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409651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(E1)–(E13)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331720" y="409651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2233"/>
                </a:solidFill>
              </a:rPr>
              <a:t>energy hub, linearized AC power flow, current limits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457200" y="4773168"/>
            <a:ext cx="1691640" cy="475488"/>
          </a:xfrm>
          <a:prstGeom prst="roundRect">
            <a:avLst>
              <a:gd name="adj" fmla="val 15385"/>
            </a:avLst>
          </a:prstGeom>
          <a:solidFill>
            <a:srgbClr val="0B6E4F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77316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(N1)–(N3)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331720" y="477316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2233"/>
                </a:solidFill>
              </a:rPr>
              <a:t>pump electrical coupling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17804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6E4F"/>
                </a:solidFill>
              </a:rPr>
              <a:t>THE COUPLING  (NEW LINK)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178040" y="178308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1C6DD0"/>
          </a:solidFill>
          <a:ln/>
        </p:spPr>
      </p:sp>
      <p:sp>
        <p:nvSpPr>
          <p:cNvPr id="20" name="Text 17"/>
          <p:cNvSpPr/>
          <p:nvPr/>
        </p:nvSpPr>
        <p:spPr>
          <a:xfrm>
            <a:off x="7178040" y="17830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WATER MILP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pump status  yₚᵗ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0012680" y="178308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C8901B"/>
          </a:solidFill>
          <a:ln/>
        </p:spPr>
      </p:sp>
      <p:sp>
        <p:nvSpPr>
          <p:cNvPr id="22" name="Text 19"/>
          <p:cNvSpPr/>
          <p:nvPr/>
        </p:nvSpPr>
        <p:spPr>
          <a:xfrm>
            <a:off x="10012680" y="17830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ENERGY MILP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bus balance E1 / E7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006840" y="2221992"/>
            <a:ext cx="960120" cy="0"/>
          </a:xfrm>
          <a:prstGeom prst="line">
            <a:avLst/>
          </a:prstGeom>
          <a:noFill/>
          <a:ln w="44450">
            <a:solidFill>
              <a:srgbClr val="0B6E4F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8732520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E4F"/>
                </a:solidFill>
              </a:rPr>
              <a:t>P̄ₚ · yₚᵗ  [kW]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178040" y="2999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33"/>
                </a:solidFill>
              </a:rPr>
              <a:t>(N1)  mean pump power — from one EPANET pre-simulation</a:t>
            </a:r>
            <a:endParaRPr lang="en-US" sz="1250" dirty="0"/>
          </a:p>
        </p:txBody>
      </p:sp>
      <p:pic>
        <p:nvPicPr>
          <p:cNvPr id="26" name="Image 1" descr="eq_n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3273552"/>
            <a:ext cx="3977640" cy="72603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178040" y="4114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33"/>
                </a:solidFill>
              </a:rPr>
              <a:t>(N2)  per-bus pump demand</a:t>
            </a:r>
            <a:endParaRPr lang="en-US" sz="1250" dirty="0"/>
          </a:p>
        </p:txBody>
      </p:sp>
      <p:pic>
        <p:nvPicPr>
          <p:cNvPr id="28" name="Image 2" descr="eq_n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389120"/>
            <a:ext cx="3520440" cy="74706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178040" y="52852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233"/>
                </a:solidFill>
              </a:rPr>
              <a:t>(N3)  </a:t>
            </a:r>
            <a:pPr indent="0" marL="0">
              <a:buNone/>
            </a:pPr>
            <a:r>
              <a:rPr lang="en-US" sz="1250" b="1" dirty="0">
                <a:solidFill>
                  <a:srgbClr val="0B6E4F"/>
                </a:solidFill>
              </a:rPr>
              <a:t>add  Lᵖᵘᵐᵖ</a:t>
            </a:r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</a:rPr>
              <a:t> to the E1 &amp; E7 bus balances → pumping is priced by the import tariff cₜ.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457200" y="63276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</a:rPr>
              <a:t>Stays a single MILP — (N1) is a precomputed parameter; (N2)–(N3) are linear in the existing pump status yₚᵗ and bus variables.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Coupled Day-Ahead Problem (Nexus)</dc:title>
  <dc:subject>PptxGenJS Presentation</dc:subject>
  <dc:creator>PptxGenJS</dc:creator>
  <cp:lastModifiedBy>PptxGenJS</cp:lastModifiedBy>
  <cp:revision>1</cp:revision>
  <dcterms:created xsi:type="dcterms:W3CDTF">2026-06-05T16:23:14Z</dcterms:created>
  <dcterms:modified xsi:type="dcterms:W3CDTF">2026-06-05T16:23:14Z</dcterms:modified>
</cp:coreProperties>
</file>